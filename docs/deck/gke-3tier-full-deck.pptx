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331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B6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ARCHITECTURE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265176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Three-Tier Application on GKE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3611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platform · Istio service mesh, STRICT mTLS · delivered end to end by Argo CD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4251960"/>
            <a:ext cx="2194560" cy="0"/>
          </a:xfrm>
          <a:prstGeom prst="line">
            <a:avLst/>
          </a:prstGeom>
          <a:noFill/>
          <a:ln w="12700">
            <a:solidFill>
              <a:srgbClr val="D7DCE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44805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By: </a:t>
            </a:r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Mohammad Hassan Ur Rehman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Engineer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B6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Points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090879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10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64008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gke-3tier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600200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6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160020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715000" y="1618488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platform had to prove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2057400"/>
            <a:ext cx="11155680" cy="0"/>
          </a:xfrm>
          <a:prstGeom prst="line">
            <a:avLst/>
          </a:prstGeom>
          <a:noFill/>
          <a:ln w="9525">
            <a:solidFill>
              <a:srgbClr val="D7DCE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2221992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6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22199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Diagram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715000" y="2240280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path, user to database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2679192"/>
            <a:ext cx="11155680" cy="0"/>
          </a:xfrm>
          <a:prstGeom prst="line">
            <a:avLst/>
          </a:prstGeom>
          <a:noFill/>
          <a:ln w="9525">
            <a:solidFill>
              <a:srgbClr val="D7DCE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2920" y="2843784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6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284378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Highlights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715000" y="2862072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infrastructure · delivery pipeline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3300984"/>
            <a:ext cx="11155680" cy="0"/>
          </a:xfrm>
          <a:prstGeom prst="line">
            <a:avLst/>
          </a:prstGeom>
          <a:noFill/>
          <a:ln w="9525">
            <a:solidFill>
              <a:srgbClr val="D7DCE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02920" y="3465576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6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3465576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Pillars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715000" y="3483864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performance · resilience · secure · cost optimized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" y="3922776"/>
            <a:ext cx="11155680" cy="0"/>
          </a:xfrm>
          <a:prstGeom prst="line">
            <a:avLst/>
          </a:prstGeom>
          <a:noFill/>
          <a:ln w="9525">
            <a:solidFill>
              <a:srgbClr val="D7DCE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02920" y="4087368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6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" y="408736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Capacity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5715000" y="4105656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Load-tested, not estimated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2920" y="4544568"/>
            <a:ext cx="11155680" cy="0"/>
          </a:xfrm>
          <a:prstGeom prst="line">
            <a:avLst/>
          </a:prstGeom>
          <a:noFill/>
          <a:ln w="9525">
            <a:solidFill>
              <a:srgbClr val="D7DCE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02920" y="4709160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6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097280" y="470916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5715000" y="4727448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proven, and what is not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02920" y="5166360"/>
            <a:ext cx="11155680" cy="0"/>
          </a:xfrm>
          <a:prstGeom prst="line">
            <a:avLst/>
          </a:prstGeom>
          <a:noFill/>
          <a:ln w="9525">
            <a:solidFill>
              <a:srgbClr val="D7DCE1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B6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Goal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090879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10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64008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gke-3tier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50876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production-shaped three-tier application on GKE, where the cloud stops at the cluster edge and everything inside it is reconciled from Git — then measure what it actually serves, rather than asserting a number.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2651760"/>
            <a:ext cx="10241280" cy="1051560"/>
          </a:xfrm>
          <a:prstGeom prst="rect">
            <a:avLst/>
          </a:prstGeom>
          <a:solidFill>
            <a:srgbClr val="E2EFEA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2651760"/>
            <a:ext cx="45720" cy="1051560"/>
          </a:xfrm>
          <a:prstGeom prst="rect">
            <a:avLst/>
          </a:prstGeom>
          <a:solidFill>
            <a:srgbClr val="0B6E5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22376" y="2761488"/>
            <a:ext cx="982980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 that shaped every decision. Terraform owns everything up to and including the cluster. Argo CD owns everything inside it. No kubectl patch, no console edits — if the cluster holds state no file describes, the repository has stopped being the source of truth.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4114800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B6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"PRODUCTION-SHAPED" MEANT HERE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4434840"/>
            <a:ext cx="10241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and identity-based authorization between every tier, not just at the edge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database that survives losing a node, not just one that has backups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releases on both application tiers, not a single blue/green switch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capacity number backed by a load test and its method, not a round figure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B6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Diagram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090879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10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64008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gke-3tier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2569464"/>
            <a:ext cx="347472" cy="3474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-256032" y="298094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9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2456" y="2532888"/>
            <a:ext cx="420624" cy="42062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66928" y="301752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DNS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2212848" y="2450592"/>
            <a:ext cx="585216" cy="5852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4285F4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9152" y="2596896"/>
            <a:ext cx="292608" cy="29260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499616" y="307238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Load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Balancer</a:t>
            </a:r>
            <a:endParaRPr lang="en-US" sz="900" dirty="0"/>
          </a:p>
        </p:txBody>
      </p:sp>
      <p:sp>
        <p:nvSpPr>
          <p:cNvPr id="13" name="Shape 8"/>
          <p:cNvSpPr/>
          <p:nvPr/>
        </p:nvSpPr>
        <p:spPr>
          <a:xfrm>
            <a:off x="941832" y="2743200"/>
            <a:ext cx="402336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4" name="Shape 9"/>
          <p:cNvSpPr/>
          <p:nvPr/>
        </p:nvSpPr>
        <p:spPr>
          <a:xfrm>
            <a:off x="1801368" y="2743200"/>
            <a:ext cx="4114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5" name="Shape 10"/>
          <p:cNvSpPr/>
          <p:nvPr/>
        </p:nvSpPr>
        <p:spPr>
          <a:xfrm>
            <a:off x="2798064" y="2743200"/>
            <a:ext cx="169164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6" name="Shape 11"/>
          <p:cNvSpPr/>
          <p:nvPr/>
        </p:nvSpPr>
        <p:spPr>
          <a:xfrm>
            <a:off x="3246120" y="1737360"/>
            <a:ext cx="850392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C7D1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3410712" y="182880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GKE CLUSTER</a:t>
            </a:r>
            <a:endParaRPr lang="en-US" sz="9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6620" y="1485900"/>
            <a:ext cx="502920" cy="50292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3520440" y="2103120"/>
            <a:ext cx="22860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1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3657600" y="219456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Tier</a:t>
            </a:r>
            <a:endParaRPr lang="en-US" sz="1200" dirty="0"/>
          </a:p>
        </p:txBody>
      </p:sp>
      <p:sp>
        <p:nvSpPr>
          <p:cNvPr id="21" name="Text 15"/>
          <p:cNvSpPr txBox="1"/>
          <p:nvPr/>
        </p:nvSpPr>
        <p:spPr>
          <a:xfrm>
            <a:off x="3657600" y="585216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pool · autoscaled</a:t>
            </a:r>
            <a:endParaRPr lang="en-US" sz="80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6280" y="2606040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3657600" y="294436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Istio Sidecar</a:t>
            </a:r>
            <a:endParaRPr lang="en-US" sz="850" dirty="0"/>
          </a:p>
        </p:txBody>
      </p:sp>
      <p:sp>
        <p:nvSpPr>
          <p:cNvPr id="24" name="Shape 17"/>
          <p:cNvSpPr/>
          <p:nvPr/>
        </p:nvSpPr>
        <p:spPr>
          <a:xfrm>
            <a:off x="4663440" y="3054096"/>
            <a:ext cx="0" cy="813816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  <a:tailEnd type="triangle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98264" y="3895344"/>
            <a:ext cx="530352" cy="530352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3657600" y="447141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</a:t>
            </a:r>
            <a:endParaRPr lang="en-US" sz="750" dirty="0"/>
          </a:p>
        </p:txBody>
      </p:sp>
      <p:sp>
        <p:nvSpPr>
          <p:cNvPr id="27" name="Text 19"/>
          <p:cNvSpPr txBox="1"/>
          <p:nvPr/>
        </p:nvSpPr>
        <p:spPr>
          <a:xfrm>
            <a:off x="3657600" y="466344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200" dirty="0"/>
          </a:p>
        </p:txBody>
      </p:sp>
      <p:sp>
        <p:nvSpPr>
          <p:cNvPr id="28" name="Text 20"/>
          <p:cNvSpPr txBox="1"/>
          <p:nvPr/>
        </p:nvSpPr>
        <p:spPr>
          <a:xfrm>
            <a:off x="3657600" y="487375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+ React SPA</a:t>
            </a:r>
            <a:endParaRPr lang="en-US" sz="800" dirty="0"/>
          </a:p>
        </p:txBody>
      </p:sp>
      <p:sp>
        <p:nvSpPr>
          <p:cNvPr id="29" name="Shape 21"/>
          <p:cNvSpPr/>
          <p:nvPr/>
        </p:nvSpPr>
        <p:spPr>
          <a:xfrm>
            <a:off x="6400800" y="2103120"/>
            <a:ext cx="22860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1"/>
            </a:solidFill>
            <a:prstDash val="solid"/>
          </a:ln>
        </p:spPr>
      </p:sp>
      <p:sp>
        <p:nvSpPr>
          <p:cNvPr id="30" name="Text 22"/>
          <p:cNvSpPr txBox="1"/>
          <p:nvPr/>
        </p:nvSpPr>
        <p:spPr>
          <a:xfrm>
            <a:off x="6537960" y="219456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Tier</a:t>
            </a:r>
            <a:endParaRPr lang="en-US" sz="1200" dirty="0"/>
          </a:p>
        </p:txBody>
      </p:sp>
      <p:sp>
        <p:nvSpPr>
          <p:cNvPr id="31" name="Text 23"/>
          <p:cNvSpPr txBox="1"/>
          <p:nvPr/>
        </p:nvSpPr>
        <p:spPr>
          <a:xfrm>
            <a:off x="6537960" y="585216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pool · autoscaled</a:t>
            </a:r>
            <a:endParaRPr lang="en-US" sz="800" dirty="0"/>
          </a:p>
        </p:txBody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06640" y="2606040"/>
            <a:ext cx="274320" cy="274320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6537960" y="294436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Istio Sidecar</a:t>
            </a:r>
            <a:endParaRPr lang="en-US" sz="850" dirty="0"/>
          </a:p>
        </p:txBody>
      </p:sp>
      <p:sp>
        <p:nvSpPr>
          <p:cNvPr id="34" name="Shape 25"/>
          <p:cNvSpPr/>
          <p:nvPr/>
        </p:nvSpPr>
        <p:spPr>
          <a:xfrm>
            <a:off x="7543800" y="3054096"/>
            <a:ext cx="0" cy="813816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  <a:tailEnd type="triangle"/>
          </a:ln>
        </p:spPr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78624" y="3895344"/>
            <a:ext cx="530352" cy="530352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6537960" y="447141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</a:t>
            </a:r>
            <a:endParaRPr lang="en-US" sz="750" dirty="0"/>
          </a:p>
        </p:txBody>
      </p:sp>
      <p:sp>
        <p:nvSpPr>
          <p:cNvPr id="37" name="Text 27"/>
          <p:cNvSpPr txBox="1"/>
          <p:nvPr/>
        </p:nvSpPr>
        <p:spPr>
          <a:xfrm>
            <a:off x="6537960" y="466344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200" dirty="0"/>
          </a:p>
        </p:txBody>
      </p:sp>
      <p:sp>
        <p:nvSpPr>
          <p:cNvPr id="38" name="Text 28"/>
          <p:cNvSpPr txBox="1"/>
          <p:nvPr/>
        </p:nvSpPr>
        <p:spPr>
          <a:xfrm>
            <a:off x="6537960" y="487375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/ Express</a:t>
            </a:r>
            <a:endParaRPr lang="en-US" sz="800" dirty="0"/>
          </a:p>
        </p:txBody>
      </p:sp>
      <p:sp>
        <p:nvSpPr>
          <p:cNvPr id="39" name="Shape 29"/>
          <p:cNvSpPr/>
          <p:nvPr/>
        </p:nvSpPr>
        <p:spPr>
          <a:xfrm>
            <a:off x="4928616" y="4160520"/>
            <a:ext cx="1175004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40" name="Shape 30"/>
          <p:cNvSpPr/>
          <p:nvPr/>
        </p:nvSpPr>
        <p:spPr>
          <a:xfrm>
            <a:off x="6103620" y="2743200"/>
            <a:ext cx="0" cy="141732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41" name="Shape 31"/>
          <p:cNvSpPr/>
          <p:nvPr/>
        </p:nvSpPr>
        <p:spPr>
          <a:xfrm>
            <a:off x="6103620" y="2743200"/>
            <a:ext cx="13030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42" name="Text 32"/>
          <p:cNvSpPr txBox="1"/>
          <p:nvPr/>
        </p:nvSpPr>
        <p:spPr>
          <a:xfrm>
            <a:off x="5829300" y="33329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mTLS</a:t>
            </a:r>
            <a:endParaRPr lang="en-US" sz="750" dirty="0"/>
          </a:p>
        </p:txBody>
      </p:sp>
      <p:sp>
        <p:nvSpPr>
          <p:cNvPr id="43" name="Shape 33"/>
          <p:cNvSpPr/>
          <p:nvPr/>
        </p:nvSpPr>
        <p:spPr>
          <a:xfrm>
            <a:off x="9281160" y="2103120"/>
            <a:ext cx="22860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1"/>
            </a:solidFill>
            <a:prstDash val="solid"/>
          </a:ln>
        </p:spPr>
      </p:sp>
      <p:sp>
        <p:nvSpPr>
          <p:cNvPr id="44" name="Text 34"/>
          <p:cNvSpPr txBox="1"/>
          <p:nvPr/>
        </p:nvSpPr>
        <p:spPr>
          <a:xfrm>
            <a:off x="9418320" y="219456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Tier</a:t>
            </a:r>
            <a:endParaRPr lang="en-US" sz="1200" dirty="0"/>
          </a:p>
        </p:txBody>
      </p:sp>
      <p:sp>
        <p:nvSpPr>
          <p:cNvPr id="45" name="Text 35"/>
          <p:cNvSpPr txBox="1"/>
          <p:nvPr/>
        </p:nvSpPr>
        <p:spPr>
          <a:xfrm>
            <a:off x="9418320" y="585216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pool</a:t>
            </a:r>
            <a:endParaRPr lang="en-US" sz="800" dirty="0"/>
          </a:p>
        </p:txBody>
      </p:sp>
      <p:pic>
        <p:nvPicPr>
          <p:cNvPr id="4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22992" y="2542032"/>
            <a:ext cx="402336" cy="402336"/>
          </a:xfrm>
          <a:prstGeom prst="rect">
            <a:avLst/>
          </a:prstGeom>
        </p:spPr>
      </p:pic>
      <p:sp>
        <p:nvSpPr>
          <p:cNvPr id="47" name="Text 36"/>
          <p:cNvSpPr txBox="1"/>
          <p:nvPr/>
        </p:nvSpPr>
        <p:spPr>
          <a:xfrm>
            <a:off x="9418320" y="29992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Cache</a:t>
            </a:r>
            <a:endParaRPr lang="en-US" sz="900" dirty="0"/>
          </a:p>
        </p:txBody>
      </p:sp>
      <p:sp>
        <p:nvSpPr>
          <p:cNvPr id="48" name="Text 37"/>
          <p:cNvSpPr txBox="1"/>
          <p:nvPr/>
        </p:nvSpPr>
        <p:spPr>
          <a:xfrm>
            <a:off x="9418320" y="318211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mTLS</a:t>
            </a:r>
            <a:endParaRPr lang="en-US" sz="750" dirty="0"/>
          </a:p>
        </p:txBody>
      </p:sp>
      <p:sp>
        <p:nvSpPr>
          <p:cNvPr id="49" name="Shape 38"/>
          <p:cNvSpPr/>
          <p:nvPr/>
        </p:nvSpPr>
        <p:spPr>
          <a:xfrm>
            <a:off x="7808976" y="4160520"/>
            <a:ext cx="1175004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50" name="Shape 39"/>
          <p:cNvSpPr/>
          <p:nvPr/>
        </p:nvSpPr>
        <p:spPr>
          <a:xfrm>
            <a:off x="8983980" y="2743200"/>
            <a:ext cx="0" cy="141732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51" name="Shape 40"/>
          <p:cNvSpPr/>
          <p:nvPr/>
        </p:nvSpPr>
        <p:spPr>
          <a:xfrm>
            <a:off x="8983980" y="2743200"/>
            <a:ext cx="1239012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52" name="Text 41"/>
          <p:cNvSpPr txBox="1"/>
          <p:nvPr/>
        </p:nvSpPr>
        <p:spPr>
          <a:xfrm>
            <a:off x="8709660" y="33329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mTLS</a:t>
            </a:r>
            <a:endParaRPr lang="en-US" sz="750" dirty="0"/>
          </a:p>
        </p:txBody>
      </p:sp>
      <p:sp>
        <p:nvSpPr>
          <p:cNvPr id="53" name="Shape 42"/>
          <p:cNvSpPr/>
          <p:nvPr/>
        </p:nvSpPr>
        <p:spPr>
          <a:xfrm>
            <a:off x="10424160" y="3310128"/>
            <a:ext cx="0" cy="576072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54" name="Shape 43"/>
          <p:cNvSpPr/>
          <p:nvPr/>
        </p:nvSpPr>
        <p:spPr>
          <a:xfrm>
            <a:off x="9857232" y="3886200"/>
            <a:ext cx="1133856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1"/>
            </a:solidFill>
            <a:prstDash val="dash"/>
          </a:ln>
        </p:spPr>
      </p:sp>
      <p:pic>
        <p:nvPicPr>
          <p:cNvPr id="5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04704" y="3941064"/>
            <a:ext cx="438912" cy="438912"/>
          </a:xfrm>
          <a:prstGeom prst="rect">
            <a:avLst/>
          </a:prstGeom>
        </p:spPr>
      </p:pic>
      <p:sp>
        <p:nvSpPr>
          <p:cNvPr id="56" name="Text 44"/>
          <p:cNvSpPr txBox="1"/>
          <p:nvPr/>
        </p:nvSpPr>
        <p:spPr>
          <a:xfrm>
            <a:off x="9418320" y="441655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Cluster</a:t>
            </a:r>
            <a:endParaRPr lang="en-US" sz="900" dirty="0"/>
          </a:p>
        </p:txBody>
      </p:sp>
      <p:sp>
        <p:nvSpPr>
          <p:cNvPr id="57" name="Text 45"/>
          <p:cNvSpPr txBox="1"/>
          <p:nvPr/>
        </p:nvSpPr>
        <p:spPr>
          <a:xfrm>
            <a:off x="9418320" y="459028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CloudNativePG · 2 instances</a:t>
            </a:r>
            <a:endParaRPr lang="en-US" sz="750" dirty="0"/>
          </a:p>
        </p:txBody>
      </p:sp>
      <p:sp>
        <p:nvSpPr>
          <p:cNvPr id="58" name="Text 46"/>
          <p:cNvSpPr txBox="1"/>
          <p:nvPr/>
        </p:nvSpPr>
        <p:spPr>
          <a:xfrm>
            <a:off x="9418320" y="475488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mesh · own TLS 1.3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B6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Infrastructure Highlights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090879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10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64008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gke-3tier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508760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B6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 — PROVISIONED BY TERRAFORM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828800"/>
            <a:ext cx="53949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with secondary ranges for pods and services</a:t>
            </a:r>
            <a:endParaRPr lang="en-US" sz="1250" dirty="0"/>
          </a:p>
          <a:p>
            <a:pPr lvl="1" marL="355600" indent="-177800">
              <a:spcAft>
                <a:spcPts val="400"/>
              </a:spcAft>
              <a:buSzPct val="100000"/>
              <a:buChar char="–"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GKE — two node pools: stable (2× e2-standard-2) and spot (autoscaled 1–3× e2-standard-2)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CloudNativePG PostgreSQL — 2 instances, required pod anti-affinity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— self-hosted in-cluster, inside the mesh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 Registry for the web and api images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Manager — access bound per secret, never project-wide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Identity Federation — CI authenticates with zero service-account keys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identity and infrastructure kept in separate Terraform state</a:t>
            </a:r>
            <a:endParaRPr lang="en-US" sz="1250" dirty="0"/>
          </a:p>
          <a:p>
            <a:pPr lvl="1" marL="355600" indent="-177800">
              <a:spcAft>
                <a:spcPts val="400"/>
              </a:spcAft>
              <a:buSzPct val="100000"/>
              <a:buChar char="–"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node service account, not the default compute account (which carries Editor)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1508760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B6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· DELIVERY · LOCAL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1828800"/>
            <a:ext cx="5394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— DNS and TLS in front of the cluster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— builds images, commits the tag to the GitOps repo</a:t>
            </a:r>
            <a:endParaRPr lang="en-US" sz="1250" dirty="0"/>
          </a:p>
          <a:p>
            <a:pPr lvl="1" marL="355600" indent="-177800">
              <a:spcAft>
                <a:spcPts val="400"/>
              </a:spcAft>
              <a:buSzPct val="100000"/>
              <a:buChar char="–"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no cluster credentials — it never talks to the cluster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 CD — 20 Applications in an app-of-apps, ordered by sync wave</a:t>
            </a:r>
            <a:endParaRPr lang="en-US" sz="1250" dirty="0"/>
          </a:p>
          <a:p>
            <a:pPr lvl="1" marL="355600" indent="-177800">
              <a:spcAft>
                <a:spcPts val="400"/>
              </a:spcAft>
              <a:buSzPct val="100000"/>
              <a:buChar char="–"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Kustomize overlays; Argo Rollouts canary on both application tiers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kube-prometheus-stack — dashboards kept as ConfigMaps in Git, not clicked together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— multi-stage Docker builds for web (nginx) and api (node)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B6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PILLAR · 1 OF 4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Performance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090879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10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64008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gke-3tier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46304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pillars this platform is designed and measured against. The first is response time under real load.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2514600"/>
            <a:ext cx="10241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Istio sidecar mesh — mTLS and routing are handled locally at each pod, not through a shared gateway hop between every service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cache — 70%+ hit rate on the summary endpoint under load, measured in the load test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Sidecar CPU sized from measurement, not the chart default — 100m → 30m, above both the observed peak and Istio's own published figure for this throughput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Pod Autoscaler — 2–6 replicas per tier, reacting to CPU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read/write split available via CloudNativePG's -rw / -ro services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B6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PILLAR · 2 OF 4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Resilience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090879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10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64008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gke-3tier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46304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the failures that actually happen on this platform — not a generic checklist.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2514600"/>
            <a:ext cx="10241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tier runs on spot nodes — 3 preemptions absorbed during this build with no customer-visible effect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— 2 instances with required pod anti-affinity, after both were found on the same node once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failurePolicy: Fail admission webhook runs 2 replicas across 2 nodes — cert-manager, CloudNativePG operator, External Secrets, istiod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 Rollouts canary on both tiers; dynamicStableScale so a canary fits the pool instead of needing double the pods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PodDisruptionBudgets corrected after they were found blocking node drains for volumes that no longer existed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B6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PILLAR · 3 OF 4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090879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10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64008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gke-3tier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46304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replaces addresses and standing keys at every layer.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2514600"/>
            <a:ext cx="10241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mTLS across the mesh, default-deny, every permitted path stated explicitly against a verified service-account identity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Identity Federation — CI authenticates to GCP with no service-account key in existence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Manager access bound per secret — a compromised operator cannot read everything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holds infrastructure rights but deliberately no IAM-admin rights, so it cannot widen its own access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 CD and Grafana reachable only over Tailscale — never the public internet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Sidecars injected via the CNI agent, so no application pod needs NET_ADMIN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B6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PILLAR · 4 OF 4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Optimized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090879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10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64008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gke-3tier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46304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 sized from what was actually measured — not the chart defaults, and not a guess.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2514600"/>
            <a:ext cx="10241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tier on spot — the pool autoscales down to 1 node when idle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type corrected after measurement: e2-medium is shared-core, so GKE reserves a flat 1060m regardless of load; e2-standard-2 delivers 1930m for the same 2-vCPU listing</a:t>
            </a:r>
            <a:endParaRPr lang="en-US" sz="1400" dirty="0"/>
          </a:p>
          <a:p>
            <a:pPr lvl="1" marL="355600" indent="-177800">
              <a:spcAft>
                <a:spcPts val="400"/>
              </a:spcAft>
              <a:buSzPct val="100000"/>
              <a:buChar char="–"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price tier, roughly 3.5× the usable capacity per node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Sidecar CPU request dropped from the chart's 100m to 30m after measuring 3–4m actual use — recovered headroom across every mesh pod without changing a limit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NAT gateway; no idle duplicate load balancers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B6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Measured Capacity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090879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10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64008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gke-3tier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41732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generated inside the cluster and inside the mesh, so the number measures the application rather than the tester's internet connection.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148840"/>
          <a:ext cx="676656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1005840"/>
                <a:gridCol w="1097280"/>
                <a:gridCol w="731520"/>
                <a:gridCol w="1051560"/>
                <a:gridCol w="16459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8B95A1"/>
                          </a:solidFill>
                        </a:rPr>
                        <a:t>Load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8B95A1"/>
                          </a:solidFill>
                        </a:rPr>
                        <a:t>Mean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8B95A1"/>
                          </a:solidFill>
                        </a:rPr>
                        <a:t>p95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8B95A1"/>
                          </a:solidFill>
                        </a:rPr>
                        <a:t>Pods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8B95A1"/>
                          </a:solidFill>
                        </a:rPr>
                        <a:t>Per pod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</a:rPr>
                        <a:t>32 req/s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</a:rPr>
                        <a:t>7 ms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</a:rPr>
                        <a:t>21 ms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</a:rPr>
                        <a:t>8.0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</a:rPr>
                        <a:t>flat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6E5B"/>
                          </a:solidFill>
                        </a:rPr>
                        <a:t>55 req/s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6E5B"/>
                          </a:solidFill>
                        </a:rPr>
                        <a:t>52 ms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6E5B"/>
                          </a:solidFill>
                        </a:rPr>
                        <a:t>320 ms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6E5B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6E5B"/>
                          </a:solidFill>
                        </a:rPr>
                        <a:t>9.2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6E5B"/>
                          </a:solidFill>
                        </a:rPr>
                        <a:t>knee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</a:rPr>
                        <a:t>83 req/s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</a:rPr>
                        <a:t>140 ms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</a:rPr>
                        <a:t>855 ms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</a:rPr>
                        <a:t>13.8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</a:rPr>
                        <a:t>140 req/s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</a:rPr>
                        <a:t>329 ms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</a:rPr>
                        <a:t>1864 ms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</a:rPr>
                        <a:t>23.3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A8500C"/>
                          </a:solidFill>
                        </a:rPr>
                        <a:t>171 req/s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A8500C"/>
                          </a:solidFill>
                        </a:rPr>
                        <a:t>679 ms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A8500C"/>
                          </a:solidFill>
                        </a:rPr>
                        <a:t>3631 ms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A8500C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A8500C"/>
                          </a:solidFill>
                        </a:rPr>
                        <a:t>28.5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A8500C"/>
                          </a:solidFill>
                        </a:rPr>
                        <a:t>saturated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02920" y="3977640"/>
            <a:ext cx="10241280" cy="1051560"/>
          </a:xfrm>
          <a:prstGeom prst="rect">
            <a:avLst/>
          </a:prstGeom>
          <a:solidFill>
            <a:srgbClr val="E2EFEA"/>
          </a:solidFill>
          <a:ln/>
        </p:spPr>
      </p:sp>
      <p:sp>
        <p:nvSpPr>
          <p:cNvPr id="9" name="Shape 6"/>
          <p:cNvSpPr/>
          <p:nvPr/>
        </p:nvSpPr>
        <p:spPr>
          <a:xfrm>
            <a:off x="502920" y="3977640"/>
            <a:ext cx="45720" cy="1051560"/>
          </a:xfrm>
          <a:prstGeom prst="rect">
            <a:avLst/>
          </a:prstGeom>
          <a:solidFill>
            <a:srgbClr val="0B6E5B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22376" y="4087368"/>
            <a:ext cx="982980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usable number is the knee, not the peak. Below roughly 32 req/s the mean holds flat at 7 ms. Peak throughput is 171 req/s, but by then a request takes 679 ms — the system is still serving and no longer worth serving from. At one user action every 30 seconds that is roughly 960 concurrent users comfortably, against a measured ceiling far above it.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02920" y="5166360"/>
            <a:ext cx="10241280" cy="777240"/>
          </a:xfrm>
          <a:prstGeom prst="rect">
            <a:avLst/>
          </a:prstGeom>
          <a:solidFill>
            <a:srgbClr val="F6EBDF"/>
          </a:solidFill>
          <a:ln/>
        </p:spPr>
      </p:sp>
      <p:sp>
        <p:nvSpPr>
          <p:cNvPr id="12" name="Shape 9"/>
          <p:cNvSpPr/>
          <p:nvPr/>
        </p:nvSpPr>
        <p:spPr>
          <a:xfrm>
            <a:off x="502920" y="5166360"/>
            <a:ext cx="45720" cy="777240"/>
          </a:xfrm>
          <a:prstGeom prst="rect">
            <a:avLst/>
          </a:prstGeom>
          <a:solidFill>
            <a:srgbClr val="A8500C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22376" y="5276088"/>
            <a:ext cx="98298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not proven: the true ceiling. Every run so far was bound by the load generator, not the application, so 171 req/s is a floor, not a maximum.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B6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090879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64008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gke-3tier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55448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three-tier application on GKE, delivered entirely through Git, with mTLS and identity-based authorization between every tier, canary releases on both application tiers, and a database that survives losing a node.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2926080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B6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PROVEN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3246120"/>
            <a:ext cx="10241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req/s at a 7 ms mean, with headroom to spare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~960 concurrent users comfortably, at one action every 30 seconds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measured saturation point at 171 req/s (679 ms mean) — not asserted, tested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failures once the two limits the platform had written on itself were removed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02920" y="5029200"/>
            <a:ext cx="10241280" cy="1097280"/>
          </a:xfrm>
          <a:prstGeom prst="rect">
            <a:avLst/>
          </a:prstGeom>
          <a:solidFill>
            <a:srgbClr val="F6EBDF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5029200"/>
            <a:ext cx="45720" cy="1097280"/>
          </a:xfrm>
          <a:prstGeom prst="rect">
            <a:avLst/>
          </a:prstGeom>
          <a:solidFill>
            <a:srgbClr val="A8500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22376" y="5138928"/>
            <a:ext cx="98298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this platform further is a configuration change — HPA ceilings, node-pool maximums — not an architectural one. And the capacity figures above are a floor: every load-test run so far was bound by the generator, not the application, so the true ceiling remains unmeasured. Saying so is the point — a capacity number without the method behind it is a guess with a decimal place.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2026-09-03T16:07:36Z</dcterms:created>
  <dcterms:modified xsi:type="dcterms:W3CDTF">2026-09-03T16:07:36Z</dcterms:modified>
</cp:coreProperties>
</file>